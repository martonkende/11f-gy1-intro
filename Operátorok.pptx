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rkas Márton" initials="FM" lastIdx="1" clrIdx="0">
    <p:extLst>
      <p:ext uri="{19B8F6BF-5375-455C-9EA6-DF929625EA0E}">
        <p15:presenceInfo xmlns:p15="http://schemas.microsoft.com/office/powerpoint/2012/main" userId="S-1-5-21-2637094468-138780293-2159251756-494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591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39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83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790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41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43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781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54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596FC2E-6DD0-4141-82A9-CD4FA01F0B09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01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55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735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6FC2E-6DD0-4141-82A9-CD4FA01F0B09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1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27BF78-DDB7-4371-BD95-2435759CFF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ea typeface="Adobe Myungjo Std M" panose="02020600000000000000" pitchFamily="18" charset="-128"/>
              </a:rPr>
              <a:t>Operátorok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3014A63-3A17-49B7-8C7E-BB3FECD5FA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hu-HU" dirty="0">
                <a:latin typeface="+mj-lt"/>
                <a:ea typeface="Adobe Myungjo Std M" panose="02020600000000000000" pitchFamily="18" charset="-128"/>
              </a:rPr>
              <a:t>Készítette:  jászhalmi szabolcs, farkas márton kende és Mazsu Marcell </a:t>
            </a:r>
          </a:p>
        </p:txBody>
      </p:sp>
    </p:spTree>
    <p:extLst>
      <p:ext uri="{BB962C8B-B14F-4D97-AF65-F5344CB8AC3E}">
        <p14:creationId xmlns:p14="http://schemas.microsoft.com/office/powerpoint/2010/main" val="376339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Kép 16">
            <a:hlinkClick r:id="rId2" action="ppaction://hlinksldjump"/>
            <a:extLst>
              <a:ext uri="{FF2B5EF4-FFF2-40B4-BE49-F238E27FC236}">
                <a16:creationId xmlns:a16="http://schemas.microsoft.com/office/drawing/2014/main" id="{4FCA3757-F380-4943-BD98-B55A173E7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354" y="2311399"/>
            <a:ext cx="2477752" cy="31469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Tartalom helye 15">
            <a:hlinkClick r:id="rId4" action="ppaction://hlinksldjump"/>
            <a:extLst>
              <a:ext uri="{FF2B5EF4-FFF2-40B4-BE49-F238E27FC236}">
                <a16:creationId xmlns:a16="http://schemas.microsoft.com/office/drawing/2014/main" id="{73CBE6FF-76BE-4B5E-B3B9-30CE476C9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09123" y="2319866"/>
            <a:ext cx="2477751" cy="31469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" name="Kép 17">
            <a:hlinkClick r:id="rId5" action="ppaction://hlinksldjump"/>
            <a:extLst>
              <a:ext uri="{FF2B5EF4-FFF2-40B4-BE49-F238E27FC236}">
                <a16:creationId xmlns:a16="http://schemas.microsoft.com/office/drawing/2014/main" id="{61635934-4CA8-4AA7-9C9C-AC0FF5F0D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179" y="2319867"/>
            <a:ext cx="2477751" cy="31469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1A180C9-525C-4D7C-9EEC-35468CF1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ea typeface="Adobe Myungjo Std M" panose="02020600000000000000" pitchFamily="18" charset="-128"/>
              </a:rPr>
              <a:t>Operátorok fajtái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63D6AD81-9002-462C-A5B6-E7B048A60ED5}"/>
              </a:ext>
            </a:extLst>
          </p:cNvPr>
          <p:cNvSpPr txBox="1"/>
          <p:nvPr/>
        </p:nvSpPr>
        <p:spPr>
          <a:xfrm>
            <a:off x="1711288" y="3136612"/>
            <a:ext cx="21505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latin typeface="+mj-lt"/>
                <a:ea typeface="Adobe Myungjo Std M" panose="02020600000000000000" pitchFamily="18" charset="-128"/>
                <a:cs typeface="Adobe Arabic" panose="02040503050201020203" pitchFamily="18" charset="-78"/>
              </a:rPr>
              <a:t>Aritmetikai operátor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2EA6D004-A96F-40DF-BD5F-CFF49EC6E34F}"/>
              </a:ext>
            </a:extLst>
          </p:cNvPr>
          <p:cNvSpPr txBox="1"/>
          <p:nvPr/>
        </p:nvSpPr>
        <p:spPr>
          <a:xfrm>
            <a:off x="5161016" y="3136612"/>
            <a:ext cx="2184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latin typeface="+mj-lt"/>
              </a:rPr>
              <a:t>Logikai </a:t>
            </a:r>
          </a:p>
          <a:p>
            <a:pPr algn="ctr"/>
            <a:r>
              <a:rPr lang="hu-HU" sz="3200" dirty="0">
                <a:latin typeface="+mj-lt"/>
              </a:rPr>
              <a:t>operátor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ABDE33A-8C42-4762-8316-297D361E0C14}"/>
              </a:ext>
            </a:extLst>
          </p:cNvPr>
          <p:cNvSpPr txBox="1"/>
          <p:nvPr/>
        </p:nvSpPr>
        <p:spPr>
          <a:xfrm>
            <a:off x="8461564" y="3136612"/>
            <a:ext cx="24553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/>
              <a:t>Értékadó operátor</a:t>
            </a:r>
          </a:p>
        </p:txBody>
      </p:sp>
    </p:spTree>
    <p:extLst>
      <p:ext uri="{BB962C8B-B14F-4D97-AF65-F5344CB8AC3E}">
        <p14:creationId xmlns:p14="http://schemas.microsoft.com/office/powerpoint/2010/main" val="3752809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D950B3-6887-41B9-9B7C-267A463EB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Adobe Myungjo Std M" panose="02020600000000000000" pitchFamily="18" charset="-128"/>
              </a:rPr>
              <a:t>Aritmetikai operátorok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03F1E42-0D35-45FA-AA22-34CE69A03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800" dirty="0">
                <a:latin typeface="+mj-lt"/>
                <a:ea typeface="Adobe Myungjo Std M" panose="02020600000000000000" pitchFamily="18" charset="-128"/>
              </a:rPr>
              <a:t>A számítások elvégzésére szolgálnak, és szinte minden programozási nyelvben azonosak.</a:t>
            </a:r>
          </a:p>
          <a:p>
            <a:r>
              <a:rPr lang="hu-HU" sz="1800" dirty="0">
                <a:latin typeface="+mj-lt"/>
                <a:ea typeface="Adobe Myungjo Std M" panose="02020600000000000000" pitchFamily="18" charset="-128"/>
              </a:rPr>
              <a:t>Összeadás +</a:t>
            </a:r>
          </a:p>
          <a:p>
            <a:r>
              <a:rPr lang="hu-HU" sz="1800" dirty="0">
                <a:latin typeface="+mj-lt"/>
                <a:ea typeface="Adobe Myungjo Std M" panose="02020600000000000000" pitchFamily="18" charset="-128"/>
              </a:rPr>
              <a:t>Kivonás -</a:t>
            </a:r>
          </a:p>
          <a:p>
            <a:r>
              <a:rPr lang="hu-HU" sz="1800" dirty="0">
                <a:latin typeface="+mj-lt"/>
                <a:ea typeface="Adobe Myungjo Std M" panose="02020600000000000000" pitchFamily="18" charset="-128"/>
              </a:rPr>
              <a:t>Szorzás *</a:t>
            </a:r>
          </a:p>
          <a:p>
            <a:r>
              <a:rPr lang="hu-HU" sz="1800" dirty="0">
                <a:latin typeface="+mj-lt"/>
                <a:ea typeface="Adobe Myungjo Std M" panose="02020600000000000000" pitchFamily="18" charset="-128"/>
              </a:rPr>
              <a:t>Osztás /</a:t>
            </a:r>
          </a:p>
          <a:p>
            <a:r>
              <a:rPr lang="hu-HU" sz="1800" dirty="0">
                <a:latin typeface="+mj-lt"/>
                <a:ea typeface="Adobe Myungjo Std M" panose="02020600000000000000" pitchFamily="18" charset="-128"/>
              </a:rPr>
              <a:t>Maradékos osztás %</a:t>
            </a:r>
          </a:p>
        </p:txBody>
      </p:sp>
      <p:sp>
        <p:nvSpPr>
          <p:cNvPr id="5" name="Nyíl: jobbra mutató 4">
            <a:hlinkClick r:id="rId2" action="ppaction://hlinksldjump"/>
            <a:extLst>
              <a:ext uri="{FF2B5EF4-FFF2-40B4-BE49-F238E27FC236}">
                <a16:creationId xmlns:a16="http://schemas.microsoft.com/office/drawing/2014/main" id="{8ED05585-49D2-4084-8FF4-226928416548}"/>
              </a:ext>
            </a:extLst>
          </p:cNvPr>
          <p:cNvSpPr/>
          <p:nvPr/>
        </p:nvSpPr>
        <p:spPr>
          <a:xfrm>
            <a:off x="10360587" y="5327756"/>
            <a:ext cx="1388533" cy="6011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Vissza</a:t>
            </a:r>
          </a:p>
        </p:txBody>
      </p:sp>
    </p:spTree>
    <p:extLst>
      <p:ext uri="{BB962C8B-B14F-4D97-AF65-F5344CB8AC3E}">
        <p14:creationId xmlns:p14="http://schemas.microsoft.com/office/powerpoint/2010/main" val="121179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A72047-4634-42A8-8BCF-FE7FDB4B9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>
                <a:ea typeface="Adobe Myungjo Std M" panose="02020600000000000000" pitchFamily="18" charset="-128"/>
              </a:rPr>
              <a:t>Értékadó operátorok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F3C94D-324D-4B46-AA47-2B25624C3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+mj-lt"/>
                <a:ea typeface="Adobe Myungjo Std M" panose="02020600000000000000" pitchFamily="18" charset="-128"/>
              </a:rPr>
              <a:t>Alapértelmezett érékadás PL: x = 10</a:t>
            </a:r>
          </a:p>
          <a:p>
            <a:r>
              <a:rPr lang="hu-HU" dirty="0">
                <a:latin typeface="+mj-lt"/>
                <a:ea typeface="Adobe Myungjo Std M" panose="02020600000000000000" pitchFamily="18" charset="-128"/>
              </a:rPr>
              <a:t>A kombinált értékadás operátorai: </a:t>
            </a:r>
          </a:p>
          <a:p>
            <a:pPr lvl="1"/>
            <a:r>
              <a:rPr lang="hu-HU" dirty="0">
                <a:latin typeface="+mj-lt"/>
                <a:ea typeface="Adobe Myungjo Std M" panose="02020600000000000000" pitchFamily="18" charset="-128"/>
              </a:rPr>
              <a:t>+=  </a:t>
            </a:r>
          </a:p>
          <a:p>
            <a:pPr lvl="1"/>
            <a:r>
              <a:rPr lang="hu-HU" dirty="0">
                <a:latin typeface="+mj-lt"/>
                <a:ea typeface="Adobe Myungjo Std M" panose="02020600000000000000" pitchFamily="18" charset="-128"/>
              </a:rPr>
              <a:t>-=</a:t>
            </a:r>
          </a:p>
          <a:p>
            <a:pPr lvl="1"/>
            <a:r>
              <a:rPr lang="hu-HU" dirty="0">
                <a:latin typeface="+mj-lt"/>
                <a:ea typeface="Adobe Myungjo Std M" panose="02020600000000000000" pitchFamily="18" charset="-128"/>
              </a:rPr>
              <a:t>*=</a:t>
            </a:r>
          </a:p>
          <a:p>
            <a:pPr lvl="1"/>
            <a:r>
              <a:rPr lang="hu-HU" dirty="0">
                <a:latin typeface="+mj-lt"/>
                <a:ea typeface="Adobe Myungjo Std M" panose="02020600000000000000" pitchFamily="18" charset="-128"/>
              </a:rPr>
              <a:t>/=</a:t>
            </a:r>
          </a:p>
          <a:p>
            <a:pPr marL="457200" lvl="1" indent="0">
              <a:buNone/>
            </a:pPr>
            <a:endParaRPr lang="hu-HU" dirty="0"/>
          </a:p>
          <a:p>
            <a:pPr marL="457200" lvl="1" indent="0">
              <a:buNone/>
            </a:pPr>
            <a:endParaRPr lang="hu-HU" dirty="0"/>
          </a:p>
          <a:p>
            <a:pPr marL="457200" lvl="1" indent="0">
              <a:buNone/>
            </a:pPr>
            <a:endParaRPr lang="hu-HU" dirty="0"/>
          </a:p>
        </p:txBody>
      </p:sp>
      <p:pic>
        <p:nvPicPr>
          <p:cNvPr id="5" name="Kép 4">
            <a:hlinkClick r:id="rId2" action="ppaction://hlinksldjump"/>
            <a:extLst>
              <a:ext uri="{FF2B5EF4-FFF2-40B4-BE49-F238E27FC236}">
                <a16:creationId xmlns:a16="http://schemas.microsoft.com/office/drawing/2014/main" id="{ACEA3945-1E95-4CB6-B155-C39584326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656" y="5299110"/>
            <a:ext cx="1414395" cy="6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79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DF0FA9-BC45-4291-959E-9BFE2D4F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Adobe Myungjo Std M" panose="02020600000000000000" pitchFamily="18" charset="-128"/>
              </a:rPr>
              <a:t>Logikai operátorok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DA3828-6FE8-4C9D-9DB6-FAB2101F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893754" cy="3450613"/>
          </a:xfrm>
        </p:spPr>
        <p:txBody>
          <a:bodyPr>
            <a:normAutofit/>
          </a:bodyPr>
          <a:lstStyle/>
          <a:p>
            <a:r>
              <a:rPr lang="hu-HU" sz="1800" dirty="0">
                <a:latin typeface="+mj-lt"/>
                <a:ea typeface="Adobe Myungjo Std M" panose="02020600000000000000" pitchFamily="18" charset="-128"/>
              </a:rPr>
              <a:t>A logikai operátorok logikai műveleteket hajtanak végre bool(</a:t>
            </a:r>
            <a:r>
              <a:rPr lang="hu-HU" sz="1800" dirty="0" err="1">
                <a:latin typeface="+mj-lt"/>
                <a:ea typeface="Adobe Myungjo Std M" panose="02020600000000000000" pitchFamily="18" charset="-128"/>
              </a:rPr>
              <a:t>True,False</a:t>
            </a:r>
            <a:r>
              <a:rPr lang="hu-HU" sz="1800" dirty="0">
                <a:latin typeface="+mj-lt"/>
                <a:ea typeface="Adobe Myungjo Std M" panose="02020600000000000000" pitchFamily="18" charset="-128"/>
              </a:rPr>
              <a:t>) operandusokkal(Az érték, vagy változó amivel a művelet dolgozik általában 2 van)</a:t>
            </a:r>
          </a:p>
          <a:p>
            <a:endParaRPr lang="hu-HU" sz="1800" dirty="0">
              <a:latin typeface="+mj-lt"/>
              <a:ea typeface="Adobe Myungjo Std M" panose="02020600000000000000" pitchFamily="18" charset="-128"/>
            </a:endParaRPr>
          </a:p>
          <a:p>
            <a:r>
              <a:rPr lang="hu-HU" sz="1800" dirty="0">
                <a:latin typeface="+mj-lt"/>
                <a:ea typeface="Adobe Myungjo Std M" panose="02020600000000000000" pitchFamily="18" charset="-128"/>
              </a:rPr>
              <a:t>&amp;&amp;	(and/és) Csak akkor igaz, ha minden kapcsolódó feltétel igaz.</a:t>
            </a:r>
          </a:p>
          <a:p>
            <a:r>
              <a:rPr lang="hu-HU" sz="1800" dirty="0">
                <a:latin typeface="+mj-lt"/>
                <a:ea typeface="Adobe Myungjo Std M" panose="02020600000000000000" pitchFamily="18" charset="-128"/>
              </a:rPr>
              <a:t>||	(</a:t>
            </a:r>
            <a:r>
              <a:rPr lang="hu-HU" sz="1800" dirty="0" err="1">
                <a:latin typeface="+mj-lt"/>
                <a:ea typeface="Adobe Myungjo Std M" panose="02020600000000000000" pitchFamily="18" charset="-128"/>
              </a:rPr>
              <a:t>or</a:t>
            </a:r>
            <a:r>
              <a:rPr lang="hu-HU" sz="1800" dirty="0">
                <a:latin typeface="+mj-lt"/>
                <a:ea typeface="Adobe Myungjo Std M" panose="02020600000000000000" pitchFamily="18" charset="-128"/>
              </a:rPr>
              <a:t>/vagy) Akkor igaz, ha legalább az egyik feltétel igaz.</a:t>
            </a:r>
          </a:p>
          <a:p>
            <a:r>
              <a:rPr lang="hu-HU" sz="1800" dirty="0">
                <a:latin typeface="+mj-lt"/>
                <a:ea typeface="Adobe Myungjo Std M" panose="02020600000000000000" pitchFamily="18" charset="-128"/>
              </a:rPr>
              <a:t>!	(</a:t>
            </a:r>
            <a:r>
              <a:rPr lang="hu-HU" sz="1800" dirty="0" err="1">
                <a:latin typeface="+mj-lt"/>
                <a:ea typeface="Adobe Myungjo Std M" panose="02020600000000000000" pitchFamily="18" charset="-128"/>
              </a:rPr>
              <a:t>not</a:t>
            </a:r>
            <a:r>
              <a:rPr lang="hu-HU" sz="1800" dirty="0">
                <a:latin typeface="+mj-lt"/>
                <a:ea typeface="Adobe Myungjo Std M" panose="02020600000000000000" pitchFamily="18" charset="-128"/>
              </a:rPr>
              <a:t>/nem) Megfordítja a logikai értéket(igazat hamissá, hamisat igazzá alakítja)</a:t>
            </a:r>
          </a:p>
        </p:txBody>
      </p:sp>
      <p:pic>
        <p:nvPicPr>
          <p:cNvPr id="4" name="Kép 3">
            <a:hlinkClick r:id="rId2" action="ppaction://hlinksldjump"/>
            <a:extLst>
              <a:ext uri="{FF2B5EF4-FFF2-40B4-BE49-F238E27FC236}">
                <a16:creationId xmlns:a16="http://schemas.microsoft.com/office/drawing/2014/main" id="{78264FC9-89D5-4807-BBB8-348AF59DB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656" y="5344256"/>
            <a:ext cx="1414395" cy="6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867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0BC2B4-6F56-4344-B325-157C6897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Adobe Myungjo Std M" panose="02020600000000000000" pitchFamily="18" charset="-128"/>
              </a:rPr>
              <a:t>C# pecedencia táblázat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C15604-64CB-42C2-A72B-56857BE69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871583" cy="3450613"/>
          </a:xfrm>
        </p:spPr>
        <p:txBody>
          <a:bodyPr>
            <a:normAutofit/>
          </a:bodyPr>
          <a:lstStyle/>
          <a:p>
            <a:r>
              <a:rPr lang="hu-HU" sz="1800" dirty="0">
                <a:latin typeface="+mj-lt"/>
                <a:ea typeface="Adobe Myungjo Std M" panose="02020600000000000000" pitchFamily="18" charset="-128"/>
              </a:rPr>
              <a:t>Lefelé haladva megy a prioritás.</a:t>
            </a:r>
          </a:p>
          <a:p>
            <a:r>
              <a:rPr lang="hu-HU" sz="1800" dirty="0">
                <a:latin typeface="+mj-lt"/>
                <a:ea typeface="Adobe Myungjo Std M" panose="02020600000000000000" pitchFamily="18" charset="-128"/>
              </a:rPr>
              <a:t>Oldalt a nyíl a művelet elvégzésének haladási irányát mutatja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E55BCD6-00FA-4A2F-A529-2742B72AF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416" y="1914132"/>
            <a:ext cx="5692952" cy="419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21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2D11EE-01A9-48F0-B0E8-FD082BF5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ea typeface="Adobe Myungjo Std M" panose="02020600000000000000" pitchFamily="18" charset="-128"/>
              </a:rPr>
              <a:t>Köszönöm a figyelmet!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F203D701-A441-4F93-902F-16B80F485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8343" y="2016125"/>
            <a:ext cx="3449638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52258"/>
      </p:ext>
    </p:extLst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é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é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170</Words>
  <Application>Microsoft Office PowerPoint</Application>
  <PresentationFormat>Szélesvásznú</PresentationFormat>
  <Paragraphs>33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Galéria</vt:lpstr>
      <vt:lpstr>Operátorok</vt:lpstr>
      <vt:lpstr>Operátorok fajtái</vt:lpstr>
      <vt:lpstr>Aritmetikai operátorok</vt:lpstr>
      <vt:lpstr>Értékadó operátorok</vt:lpstr>
      <vt:lpstr>Logikai operátorok</vt:lpstr>
      <vt:lpstr>C# pecedencia táblázat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Operátorok</dc:title>
  <dc:creator>Farkas Márton</dc:creator>
  <cp:lastModifiedBy>Farkas Márton</cp:lastModifiedBy>
  <cp:revision>17</cp:revision>
  <dcterms:created xsi:type="dcterms:W3CDTF">2026-10-01T10:32:44Z</dcterms:created>
  <dcterms:modified xsi:type="dcterms:W3CDTF">2026-10-08T11:50:32Z</dcterms:modified>
</cp:coreProperties>
</file>